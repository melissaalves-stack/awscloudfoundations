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STARTUP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DE047"/>
                </a:solidFill>
              </a:rPr>
              <a:t>DA TURMA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</a:rPr>
              <a:t>Uma empresa, a turma inteira, 9 decisões.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</a:rPr>
              <a:t>Cada voto constrói (ou afunda) o nosso império na nuvem.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Votação por mãos levantadas  ·  A opção mais votada vence a rodada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COMO FUNCIONA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</a:rPr>
              <a:t>As regras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A turma inteira é UMA startup só. Vamos construí-la juntos, do nome à fortuna.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A cada rodada eu mostro uma decisão. Vocês VOTAM levantando a mão.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A opção mais votada vence — e vale os pontos dela pra startup.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Tem rodadas relâmpago e eventos-surpresa no meio do caminho.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10235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No fim eu somo tudo e revelo o DESTINO da startup. Depois: sorteio de 3 prêmios!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1  ·  O TIPO DE NEGÓCIO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Toda startup começa com uma ideia. Que tipo de negócio vamos criar?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App de VÍDEO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Streaming, tipo um mini-YouTube. Consome MUITA banda e armazenamento.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JOGO Online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Multiplayer em tempo real. Precisa de baixa latência e escalar rápido.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LOJA Virtual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E-commerce. Precisa de segurança de pagamento e ficar sempre no ar.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Só pra aquecer — vale 1 ponto de qualquer jeito. Votem no que acharem mais legal!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2  ·  A COZINHA DA STARTUP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Como vamos montar a base técnica?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Do ZERO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Controlamos tudo. Mais trabalho, mais poder.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SEMI-PRONTO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Base pronta, só pomos nossa parte. Equilíbrio.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TUDO PRONTO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100% pronto. Zero trabalho técnico, menos controle.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Não tem escolha errada — cada uma tem seu preço. Votem!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3  ·  O DINHEIRO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Como vamos pagar pela infraestrutura?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COMPRAR TUDO JÁ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Gastão inicial. Máquinas nossas (CapEx).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PAGAR PELO USO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Nada de gastão. Paga conforme usa (OpEx).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 Uma dessas combina muito mais com startup...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DE047"/>
                </a:solidFill>
              </a:rPr>
              <a:t>EVENTO-SURPRESA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GRANA TÁ CURTA 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Vocês ainda estão validando a ideia e o caixa é apertado.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'PAGAR PELO USO': aliviou! Sem gastão inicial, dá pra testar sem quebrar. +pontos.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'COMPRAR TUDO JÁ': o dinheiro sumiu antes de saber se a ideia funciona. Aperto...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4  ·  OS SERVIDORES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Vamos lançar! Quanto investimos em servidores AGORA?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MUITOS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Compramos bastante já. Seguro se bombar, caro se não.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O MÍNIMO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Começamos pequenos e crescemos só se precisar.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 E guardem essa escolha...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6A34A"/>
                </a:solidFill>
              </a:rPr>
              <a:t>EVENTO-SURPRESA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VIRALIZAMOS! 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Um influenciador postou e a demanda explodiu 50x da noite pro dia!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'O MÍNIMO': perfeito — na nuvem dá pra escalar em minutos e pagar só pelo que usa. +pontos!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'MUITOS': aguentou, mas vinha torrando dinheiro com servidor parado.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DE047"/>
                </a:solidFill>
              </a:rPr>
              <a:t>⚡ RODADA RELÂMPAGO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Nosso app tá lento de madrugada e vazio de manhã. Ligamos o 'escalonamento automático'?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</a:rPr>
              <a:t>Ele adiciona e remove servidores sozinho conforme a demanda sobe e desce.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F6E4"/>
                </a:solidFill>
              </a:rPr>
              <a:t>Votação rápida: quem concorda, mão pro alto!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5  ·  ONDE COLOCAR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Onde vamos hospedar a startup?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UM LUGAR SÓ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Tudo num data center. Simples e barato.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VÁRIOS LUGARES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Espalhado em zonas diferentes. Mais trabalho.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DC2626"/>
                </a:solidFill>
              </a:rPr>
              <a:t>EVENTO-SURPRESA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PEGOU FOGO NO DATA CENTER 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Um data center saiu do ar completamente!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'UM LUGAR SÓ': a startup inteira caiu. Todos os clientes sem acesso.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'VÁRIOS LUGARES': continuou no ar. Ninguém percebeu. Não coloque todos os ovos na mesma cesta!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</a:rPr>
              <a:t>📊 PLACAR PARCIAL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Como está a nossa startup até aqui?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EDD5"/>
                </a:solidFill>
              </a:rPr>
              <a:t>(Confira o total na sua planilha e anuncie pra turma!)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6  ·  OS DADOS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Nossos dados são preciosos. O que fazemos com eles?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NADA ESPECIAL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Ficam só onde estão. Menos trabalho.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BACKUP REGULAR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Cópias de segurança automáticas, sempre.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DC2626"/>
                </a:solidFill>
              </a:rPr>
              <a:t>EVENTO-SURPRESA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UM ESTAGIÁRIO APAGOU TUDO 😱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Alguém rodou o comando errado e o banco de dados foi pro espaço.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'BACKUP REGULAR': restauramos em minutos, susto passou. +pontos!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Se votaram 'NADA ESPECIAL': perdemos os dados dos clientes. Catástrofe.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7  ·  USUÁRIOS PELO MUNDO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Servidores no Brasil, mas usuários no Japão reclamam de LENTIDÃO. O que fazer?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IGNORAR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Deixa como está.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MUDAR PRO JAPÃO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Movemos tudo (e o Brasil fica lento).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CÓPIA PERTO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Cópia perto do Japão, mantendo o Brasil.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 Só uma é a jogada esperta.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6A34A"/>
                </a:solidFill>
              </a:rPr>
              <a:t>A RESPOSTA CERTA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CÓPIA PERTO DELES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Guardar uma cópia perto do usuário deixa rápido pra todo mundo, sem abandonar ninguém.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No mundo real: Edge Locations.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DE047"/>
                </a:solidFill>
              </a:rPr>
              <a:t>⚡ RODADA RELÂMPAGO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Chegou a fatura da nuvem e veio MAIOR que o esperado. Criamos um alarme de custos?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</a:rPr>
              <a:t>Um aviso automático que dispara quando o gasto passa de um limite que a gente define.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F6E4"/>
                </a:solidFill>
              </a:rPr>
              <a:t>Votação rápida: quem concorda, mão pro alto!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8  ·  GUARDAR OS ARQUIVOS (nível hard 🔥)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Nossos usuários vão subir MUITAS fotos e vídeos. Qual serviço AWS usar pra guardar esses arquivos?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S3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Armazenamento de objetos: feito pra guardar arquivos em escala.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EBS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Disco preso a UMA máquina EC2. Como o HD de um servidor.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RDS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Banco de dados relacional. Pra tabelas, não arquivos.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Cuidado com a pegadinha! Cada um serve pra uma coisa. Votem!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6A34A"/>
                </a:solidFill>
              </a:rPr>
              <a:t>A RESPOSTA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S3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O S3 é armazenamento de objetos, feito pra guardar arquivos (fotos, vídeos) em qualquer escala.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EBS é o disco de uma máquina só; RDS é pra dados em tabelas. Nenhum dos dois é pra isso.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9  ·  O BANCO DE DADOS (nível hard 🔥)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Precisamos de um banco de dados RELACIONAL (com tabelas) gerenciado pela AWS. Qual escolher?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Banco relacional gerenciado (MySQL, PostgreSQL...).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DynamoDB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Banco NoSQL, super rápido, mas não é relacional.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A palavra 'relacional' é a chave. Votem!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563EB"/>
                </a:solidFill>
              </a:rPr>
              <a:t>A RESPOSTA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RDS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RDS é o serviço de banco RELACIONAL gerenciado da AWS.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O DynamoDB é ótimo, mas é NoSQL — não é relacional. A pegadinha estava na palavra 'relacional'.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10  ·  CORTAR CUSTOS (nível hard 🔥)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Temos um processamento de relatórios que roda de madrugada e PODE ser interrompido sem problema. Qual modelo de compra do EC2 usar?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ON-DEMAND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Paga por hora, sem compromisso. Seguro, mas caro.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SPOT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Capacidade ociosa, até 90% off. Pode ser retomada pela AWS.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DEDICATED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Servidor físico só nosso. Caro, pra compliance.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A tarefa pode ser interrompida sem prejuízo. Votem!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6A34A"/>
                </a:solidFill>
              </a:rPr>
              <a:t>A JOGADA ESPERTA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SPOT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Como a tarefa pode ser interrompida sem prejuízo, o Spot dá até 90% de desconto usando capacidade ociosa da AWS.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On-Demand funcionaria, mas jogaria dinheiro fora. Spot é feito pra cargas assim.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11  ·  O SERVIDOR PRINCIPAL (nível hard 🔥)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Nosso servidor principal roda 24h por dia, o ano inteiro, e NÃO pode parar. Como pagar do jeito mais econômico?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ON-DEMAND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Paga por hora conforme usa. Flexível, sem compromisso.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SPOT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Até 90% off, mas pode ser interrompido a qualquer hora.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RESERVED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Compromisso de 1-3 anos, até 72% de desconto.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Cuidado: uma dessas derrubaria o servidor! Votem!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563EB"/>
                </a:solidFill>
              </a:rPr>
              <a:t>A RESPOSTA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RESERVED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Pra carga constante 24/7, o Reserved dá até 72% de desconto pelo compromisso de 1-3 anos.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Spot está fora (interromperia o servidor!). On-Demand funciona, mas sai bem mais caro no longo prazo.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12  ·  UM CLIENTE GRANDE CHEGOU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Um banco quer usar nossa startup, mas exige que dados sensíveis fiquem no data center DELES. O que oferecemos?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7228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88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0088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44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SÓ NUVEM PÚBLICA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516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Tudo na nuvem. 'Pega ou larga.'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276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36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4136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992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SÓ ON-PREMISES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9564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Tudo no data center deles. Abrimos mão da nuvem.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25146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848" y="274320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84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90408" y="3474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HÍBRIDO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6128" y="42062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Dados sensíveis lá, o resto na nuvem. Melhor dos dois.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Votem! Qual atende o banco sem perder as vantagens da nuvem?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6A34A"/>
                </a:solidFill>
              </a:rPr>
              <a:t>A RESPOSTA ESPERTA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HÍBRIDO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O híbrido deixa os dados sensíveis no data center do banco (atendendo a exigência) e mantém o resto na nuvem, com toda a escala e economia.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Fechamos o contrato! 🤝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RODADA 13  ·  O SUSTO DE SEGURANÇA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A conta foi invadida: senha '123456', sem verificação em 2 etapas. De quem é a culpa?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372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328" y="2743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9232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0088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DO PROVEDOR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 nuvem deveria ter impedido.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46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608" y="2743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2743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70168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NOSSA (a startup)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15888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Senha fraca e sem proteção era conosco.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</a:rPr>
              <a:t>Última decisão! Votem!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563EB"/>
                </a:solidFill>
              </a:rPr>
              <a:t>A RESPOSTA É...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NOSSA — DA STARTUP ✓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O provedor cuida da estrutura física. Senhas, acessos e configurações são do cliente.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Isso é Responsabilidade Compartilhada: 'se você pode configurar, é sua responsabilidade.'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DE047"/>
                </a:solidFill>
              </a:rPr>
              <a:t>A GRANDE REVELAÇÃO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Cada rodada era um conceito de nuvem 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91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R2 — a cozinha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89280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3520440" y="16916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IaaS · PaaS · SaaS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14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R3 — o dinheiro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71576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51460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514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CapEx vs OpEx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37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R4 — servidores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353872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7" name="Shape 15"/>
          <p:cNvSpPr/>
          <p:nvPr/>
        </p:nvSpPr>
        <p:spPr>
          <a:xfrm>
            <a:off x="3520440" y="3337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Elasticidade · Escalabilidade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160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R5 — onde colocar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436168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41605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41605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Regiões · AZs · Alta Disponib.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9834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R6 — os dados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518464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7" name="Shape 25"/>
          <p:cNvSpPr/>
          <p:nvPr/>
        </p:nvSpPr>
        <p:spPr>
          <a:xfrm>
            <a:off x="3520440" y="49834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4983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Backup · Resiliência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806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806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R7 — usuários mundo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600760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58064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5806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Edge Locations · Latência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16916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1691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R8 — arquivos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78240" y="189280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37" name="Shape 35"/>
          <p:cNvSpPr/>
          <p:nvPr/>
        </p:nvSpPr>
        <p:spPr>
          <a:xfrm>
            <a:off x="9189720" y="16916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99448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S3 (armazen. de objetos)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251460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514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R9 — banco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778240" y="271576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42" name="Shape 40"/>
          <p:cNvSpPr/>
          <p:nvPr/>
        </p:nvSpPr>
        <p:spPr>
          <a:xfrm>
            <a:off x="9189720" y="251460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99448" y="2514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RDS vs DynamoDB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333756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3337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R10 — cortar custos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778240" y="353872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47" name="Shape 45"/>
          <p:cNvSpPr/>
          <p:nvPr/>
        </p:nvSpPr>
        <p:spPr>
          <a:xfrm>
            <a:off x="9189720" y="3337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99448" y="33375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Spot (até 90% off)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416052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0528" y="4160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R11 — servidor 24/7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778240" y="436168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52" name="Shape 50"/>
          <p:cNvSpPr/>
          <p:nvPr/>
        </p:nvSpPr>
        <p:spPr>
          <a:xfrm>
            <a:off x="9189720" y="41605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9448" y="41605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Reserved (até 72% off)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0" y="4983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0528" y="49834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R12 — cliente grande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778240" y="518464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9720" y="49834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9448" y="4983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Pública · Privada · Híbrida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0" y="58064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5806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R13 — o susto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778240" y="6007608"/>
            <a:ext cx="320040" cy="27432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62" name="Shape 60"/>
          <p:cNvSpPr/>
          <p:nvPr/>
        </p:nvSpPr>
        <p:spPr>
          <a:xfrm>
            <a:off x="9189720" y="58064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99448" y="58064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Resp. Compartilhada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PARA VOCÊ (não deixe muito tempo na tela)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Mostre só UM dos próximos 4 slides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Some os pontos na planilha e escolha o desfecho da faixa. Pule os outros.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Faixas:  0–13 faliu   ·   14–24 sobreviveu   ·   25–33 sucesso   ·   34+ o topo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DESTINO DA STARTUP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Pontuação 0 a 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FALIU FEIO 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Muita decisão cara e arriscada: caixa estourado, quedas, dados perdidos. Mas todo grande fundador quebrou a primeira empresa — e vocês saíram sabendo os conceitos!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DESTINO DA STARTUP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Pontuação 14 a 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SOBREVIVEU NO SUFOCO 😅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 startup tá viva, mas tomou uns perrengues. Metade das decisões foi esperta. Com o que aprenderam hoje, dá pra virar o jogo.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DESTINO DA STARTUP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Pontuação 25 a 33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SUCESSO! 🎉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 startup decolou! A turma escalou certo, ficou no ar, cuidou dos dados e da segurança. Os investidores estão ligando.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DESTINO DA STARTUP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Pontuação 34 ou mais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IPO NA BOLSA! 🎉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 startup cresceu tanto que abriu capital na bolsa. Vocês pagaram pelo uso, ficaram sempre no ar, atenderam o mundo todo e trancaram a segurança. Dominaram a nuvem!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</a:rPr>
              <a:t>PRA FECHAR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O segredo que a startup ensinou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</a:rPr>
              <a:t>A opção com menos trabalho técnico? Era o lado SaaS.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</a:rPr>
              <a:t>A opção com mais controle pra customizar? Era o lado IaaS.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93B"/>
                </a:solidFill>
              </a:rPr>
              <a:t>Qual é o melhor? DEPENDE do que a startup precisa. Esse é o segredo.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97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🎁 SORTEIO DOS 3 PRÊMIOS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 startup teve seu destino! Agora vamos sortear 3 prêmios entre TODA a turma. Todo mundo que participou concorre. Boa sorte!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2026-08-24T00:34:47Z</dcterms:created>
  <dcterms:modified xsi:type="dcterms:W3CDTF">2026-08-24T00:34:47Z</dcterms:modified>
</cp:coreProperties>
</file>